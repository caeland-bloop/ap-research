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011680" cy="2011680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1828800"/>
            <a:ext cx="1371600" cy="1371600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2834640"/>
            <a:ext cx="1005840" cy="1005840"/>
          </a:xfrm>
          <a:prstGeom prst="ellipse">
            <a:avLst/>
          </a:prstGeom>
          <a:solidFill>
            <a:srgbClr val="E7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7132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Beginner’s Guide to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Computer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EDCEB"/>
                </a:solidFill>
              </a:defRPr>
            </a:pPr>
            <a:r>
              <a:t>Security • Front-End • Back-End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9496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Plain-language explanations with simple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What you’ll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Four clearly labeled sections, designed for beginners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74920" cy="137160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82296" cy="137160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1. Network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23744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Protect devices and network connections.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137160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82296" cy="13716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2. Application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23744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Test software for possible weaknesses.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66160"/>
            <a:ext cx="5074920" cy="137160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66160"/>
            <a:ext cx="82296" cy="1371600"/>
          </a:xfrm>
          <a:prstGeom prst="rect">
            <a:avLst/>
          </a:prstGeom>
          <a:solidFill>
            <a:srgbClr val="E7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3. Front-End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61104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Build the part of a website users see.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66160"/>
            <a:ext cx="5074920" cy="137160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566160"/>
            <a:ext cx="82296" cy="137160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39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4. Back-End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61104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Understand how programs exchange requests and results.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1. Network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Protecting computers, devices, and the information they exchange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rPr b="1">
                <a:solidFill>
                  <a:srgbClr val="2B69B0"/>
                </a:solidFill>
              </a:rPr>
              <a:t>Network — </a:t>
            </a:r>
            <a:r>
              <a:rPr>
                <a:solidFill>
                  <a:srgbClr val="2D3744"/>
                </a:solidFill>
              </a:rPr>
              <a:t>A group of connected devices, such as computers using the internet.</a:t>
            </a:r>
          </a:p>
          <a:p>
            <a:pPr>
              <a:spcAft>
                <a:spcPts val="1400"/>
              </a:spcAft>
              <a:defRPr sz="2100"/>
            </a:pPr>
            <a:r>
              <a:rPr b="1">
                <a:solidFill>
                  <a:srgbClr val="2B69B0"/>
                </a:solidFill>
              </a:rPr>
              <a:t>Network traffic — </a:t>
            </a:r>
            <a:r>
              <a:rPr>
                <a:solidFill>
                  <a:srgbClr val="2D3744"/>
                </a:solidFill>
              </a:rPr>
              <a:t>Data traveling between computers or devices.</a:t>
            </a:r>
          </a:p>
          <a:p>
            <a:pPr>
              <a:spcAft>
                <a:spcPts val="1400"/>
              </a:spcAft>
              <a:defRPr sz="2100"/>
            </a:pPr>
            <a:r>
              <a:rPr b="1">
                <a:solidFill>
                  <a:srgbClr val="2B69B0"/>
                </a:solidFill>
              </a:rPr>
              <a:t>Goal — </a:t>
            </a:r>
            <a:r>
              <a:rPr>
                <a:solidFill>
                  <a:srgbClr val="2D3744"/>
                </a:solidFill>
              </a:rPr>
              <a:t>Allow legitimate communication while reducing unwanted access and attacks.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1 • NETWORK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Firewalls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A security guard for network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2920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82296" cy="201168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32304"/>
            <a:ext cx="4617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A firewall monitors network traffic and allows or blocks connections according to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02920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82296" cy="20116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Simple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32304"/>
            <a:ext cx="4617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An unknown computer tries to connect. The firewall checks its rules and may block the connection.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rPr b="1">
                <a:solidFill>
                  <a:srgbClr val="2B69B0"/>
                </a:solidFill>
              </a:rPr>
              <a:t>Rule — </a:t>
            </a:r>
            <a:r>
              <a:rPr>
                <a:solidFill>
                  <a:srgbClr val="2D3744"/>
                </a:solidFill>
              </a:rPr>
              <a:t>An instruction telling the firewall what to allow or block.</a:t>
            </a:r>
          </a:p>
          <a:p>
            <a:pPr>
              <a:spcAft>
                <a:spcPts val="1400"/>
              </a:spcAft>
              <a:defRPr sz="1600"/>
            </a:pPr>
            <a:r>
              <a:rPr b="1">
                <a:solidFill>
                  <a:srgbClr val="2B69B0"/>
                </a:solidFill>
              </a:rPr>
              <a:t>Malicious — </a:t>
            </a:r>
            <a:r>
              <a:rPr>
                <a:solidFill>
                  <a:srgbClr val="2D3744"/>
                </a:solidFill>
              </a:rPr>
              <a:t>Intended to cause harm, steal information, or gain unauthorized access.</a:t>
            </a:r>
          </a:p>
          <a:p>
            <a:pPr>
              <a:spcAft>
                <a:spcPts val="1400"/>
              </a:spcAft>
              <a:defRPr sz="1600"/>
            </a:pPr>
            <a:r>
              <a:rPr b="1">
                <a:solidFill>
                  <a:srgbClr val="2B69B0"/>
                </a:solidFill>
              </a:rPr>
              <a:t>Remember — </a:t>
            </a:r>
            <a:r>
              <a:rPr>
                <a:solidFill>
                  <a:srgbClr val="2D3744"/>
                </a:solidFill>
              </a:rPr>
              <a:t>A firewall helps, but it cannot stop every kind of attack.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1 • NETWORK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Virtual Private Networks (VPNs)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A protected tunnel for network traffic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2920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82296" cy="201168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32304"/>
            <a:ext cx="4617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A VPN creates an encrypted connection between your device and a VPN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02920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82296" cy="20116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Simple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32304"/>
            <a:ext cx="4617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On public Wi-Fi, a VPN can help protect traffic traveling through the VPN connection.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rPr b="1">
                <a:solidFill>
                  <a:srgbClr val="2B69B0"/>
                </a:solidFill>
              </a:rPr>
              <a:t>Encryption — </a:t>
            </a:r>
            <a:r>
              <a:rPr>
                <a:solidFill>
                  <a:srgbClr val="2D3744"/>
                </a:solidFill>
              </a:rPr>
              <a:t>Converting readable information into a form that unauthorized people cannot easily understand.</a:t>
            </a:r>
          </a:p>
          <a:p>
            <a:pPr>
              <a:spcAft>
                <a:spcPts val="1400"/>
              </a:spcAft>
              <a:defRPr sz="1600"/>
            </a:pPr>
            <a:r>
              <a:rPr b="1">
                <a:solidFill>
                  <a:srgbClr val="2B69B0"/>
                </a:solidFill>
              </a:rPr>
              <a:t>VPN server — </a:t>
            </a:r>
            <a:r>
              <a:rPr>
                <a:solidFill>
                  <a:srgbClr val="2D3744"/>
                </a:solidFill>
              </a:rPr>
              <a:t>A computer that provides the VPN connection.</a:t>
            </a:r>
          </a:p>
          <a:p>
            <a:pPr>
              <a:spcAft>
                <a:spcPts val="1400"/>
              </a:spcAft>
              <a:defRPr sz="1600"/>
            </a:pPr>
            <a:r>
              <a:rPr b="1">
                <a:solidFill>
                  <a:srgbClr val="2B69B0"/>
                </a:solidFill>
              </a:rPr>
              <a:t>Remember — </a:t>
            </a:r>
            <a:r>
              <a:rPr>
                <a:solidFill>
                  <a:srgbClr val="2D3744"/>
                </a:solidFill>
              </a:rPr>
              <a:t>A VPN does not make you completely anonymous or guarantee every site is safe.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1 • NETWORK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Intrusion Detection Systems (IDS)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A burglar alarm for computer 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2920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82296" cy="201168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32304"/>
            <a:ext cx="4617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An IDS monitors network traffic or computer activity for signs of suspicious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02920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82296" cy="20116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Simple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32304"/>
            <a:ext cx="4617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It detects hundreds of unusual connection attempts and alerts a security administrator.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rPr b="1">
                <a:solidFill>
                  <a:srgbClr val="2B69B0"/>
                </a:solidFill>
              </a:rPr>
              <a:t>Intrusion — </a:t>
            </a:r>
            <a:r>
              <a:rPr>
                <a:solidFill>
                  <a:srgbClr val="2D3744"/>
                </a:solidFill>
              </a:rPr>
              <a:t>An attempt to enter a system without permission.</a:t>
            </a:r>
          </a:p>
          <a:p>
            <a:pPr>
              <a:spcAft>
                <a:spcPts val="1400"/>
              </a:spcAft>
              <a:defRPr sz="1600"/>
            </a:pPr>
            <a:r>
              <a:rPr b="1">
                <a:solidFill>
                  <a:srgbClr val="2B69B0"/>
                </a:solidFill>
              </a:rPr>
              <a:t>Alert — </a:t>
            </a:r>
            <a:r>
              <a:rPr>
                <a:solidFill>
                  <a:srgbClr val="2D3744"/>
                </a:solidFill>
              </a:rPr>
              <a:t>A notification about a possible security problem.</a:t>
            </a:r>
          </a:p>
          <a:p>
            <a:pPr>
              <a:spcAft>
                <a:spcPts val="1400"/>
              </a:spcAft>
              <a:defRPr sz="1600"/>
            </a:pPr>
            <a:r>
              <a:rPr b="1">
                <a:solidFill>
                  <a:srgbClr val="2B69B0"/>
                </a:solidFill>
              </a:rPr>
              <a:t>IDS vs. IPS — </a:t>
            </a:r>
            <a:r>
              <a:rPr>
                <a:solidFill>
                  <a:srgbClr val="2D3744"/>
                </a:solidFill>
              </a:rPr>
              <a:t>An IDS usually reports suspicious activity; an Intrusion Prevention System can block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2. Application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Finding weaknesses that could put software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29200" cy="329184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329184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Static Application Security Testing (SAST)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78024"/>
            <a:ext cx="461772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• Examines source code without running the application.</a:t>
            </a: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• Like proofreading a recipe before cooking.</a:t>
            </a: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• Example: flags a password written directly in a code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029200" cy="329184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82296" cy="32918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Dynamic Application Security Testing (DAST)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78024"/>
            <a:ext cx="461772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• Tests an application while it is running.</a:t>
            </a: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• Like testing whether a door works by trying to open it.</a:t>
            </a: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• Example: sends unexpected input to a running website and checks its response.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/>
            </a:pPr>
            <a:r>
              <a:rPr b="1">
                <a:solidFill>
                  <a:srgbClr val="2B69B0"/>
                </a:solidFill>
              </a:rPr>
              <a:t>Source code — </a:t>
            </a:r>
            <a:r>
              <a:rPr>
                <a:solidFill>
                  <a:srgbClr val="2D3744"/>
                </a:solidFill>
              </a:rPr>
              <a:t>Instructions written by a programmer.</a:t>
            </a:r>
          </a:p>
          <a:p>
            <a:pPr>
              <a:spcAft>
                <a:spcPts val="1400"/>
              </a:spcAft>
              <a:defRPr sz="1400"/>
            </a:pPr>
            <a:r>
              <a:rPr b="1">
                <a:solidFill>
                  <a:srgbClr val="2B69B0"/>
                </a:solidFill>
              </a:rPr>
              <a:t>Vulnerability — </a:t>
            </a:r>
            <a:r>
              <a:rPr>
                <a:solidFill>
                  <a:srgbClr val="2D3744"/>
                </a:solidFill>
              </a:rPr>
              <a:t>A weakness that could be exploited to compromise a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2 • APPLICATION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SAST vs. DAST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Two complementary ways to look for security problems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2880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84048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6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SAST</a:t>
                      </a:r>
                    </a:p>
                  </a:txBody>
                  <a:tcPr>
                    <a:solidFill>
                      <a:srgbClr val="16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DAST</a:t>
                      </a:r>
                    </a:p>
                  </a:txBody>
                  <a:tcPr>
                    <a:solidFill>
                      <a:srgbClr val="162B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What it examines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Source code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Running application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Must the app run?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Analogy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Proofread a recipe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Test the finished dish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Finds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Potential weaknesses in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D3744"/>
                          </a:solidFill>
                        </a:defRPr>
                      </a:pPr>
                      <a:r>
                        <a:t>Potential weaknesses in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Takeaway — </a:t>
            </a:r>
            <a:r>
              <a:rPr>
                <a:solidFill>
                  <a:srgbClr val="2D3744"/>
                </a:solidFill>
              </a:rPr>
              <a:t>Using both methods can reveal problems that one method might miss.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3. Front-End Web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The part of a website people see and interact with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29000" cy="24688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82296" cy="246888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23744"/>
            <a:ext cx="30175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Structure and content</a:t>
            </a: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Example: a heading, paragraph, or button.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24688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82296" cy="24688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23744"/>
            <a:ext cx="30175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Appearance and layout</a:t>
            </a: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Example: colors, font sizes, and spacing.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429000" cy="24688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82296" cy="2468880"/>
          </a:xfrm>
          <a:prstGeom prst="rect">
            <a:avLst/>
          </a:prstGeom>
          <a:solidFill>
            <a:srgbClr val="E7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23744"/>
            <a:ext cx="30175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Behavior and interaction</a:t>
            </a: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Example: change text when a button is clicked.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rPr b="1">
                <a:solidFill>
                  <a:srgbClr val="2B69B0"/>
                </a:solidFill>
              </a:rPr>
              <a:t>Remember — </a:t>
            </a:r>
            <a:r>
              <a:rPr>
                <a:solidFill>
                  <a:srgbClr val="2D3744"/>
                </a:solidFill>
              </a:rPr>
              <a:t>HTML says what is on the page; CSS controls how it looks; JavaScript makes it respond.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3 •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HTML: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HyperText Markup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Purpose — </a:t>
            </a:r>
            <a:r>
              <a:rPr>
                <a:solidFill>
                  <a:srgbClr val="2D3744"/>
                </a:solidFill>
              </a:rPr>
              <a:t>Defines the structure and content of a web page.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Tag — </a:t>
            </a:r>
            <a:r>
              <a:rPr>
                <a:solidFill>
                  <a:srgbClr val="2D3744"/>
                </a:solidFill>
              </a:rPr>
              <a:t>A marker such as &lt;p&gt; that tells the browser what kind of content follows.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Example — </a:t>
            </a:r>
            <a:r>
              <a:rPr>
                <a:solidFill>
                  <a:srgbClr val="2D3744"/>
                </a:solidFill>
              </a:rPr>
              <a:t>This creates a heading, paragraph, and button.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6492240" cy="1645920"/>
          </a:xfrm>
          <a:prstGeom prst="round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22191"/>
            <a:ext cx="6126479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&lt;h1&gt;My First Website&lt;/h1&gt;</a:t>
            </a:r>
          </a:p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&lt;p&gt;Welcome!&lt;/p&gt;</a:t>
            </a:r>
          </a:p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&lt;button&gt;Click Me&lt;/button&gt;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657600"/>
            <a:ext cx="3383280" cy="164592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3657600"/>
            <a:ext cx="82296" cy="164592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3840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In plain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352544"/>
            <a:ext cx="2971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HTML describes what content belongs on the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3 •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CSS: Appearance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Cascading Style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Purpose — </a:t>
            </a:r>
            <a:r>
              <a:rPr>
                <a:solidFill>
                  <a:srgbClr val="2D3744"/>
                </a:solidFill>
              </a:rPr>
              <a:t>Controls the visual appearance and layout of a web page.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Selector — </a:t>
            </a:r>
            <a:r>
              <a:rPr>
                <a:solidFill>
                  <a:srgbClr val="2D3744"/>
                </a:solidFill>
              </a:rPr>
              <a:t>Identifies what to style, such as h1.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Property and value — </a:t>
            </a:r>
            <a:r>
              <a:rPr>
                <a:solidFill>
                  <a:srgbClr val="2D3744"/>
                </a:solidFill>
              </a:rPr>
              <a:t>The setting and its chosen value, such as color: blue.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5029200" cy="2103120"/>
          </a:xfrm>
          <a:prstGeom prst="round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39312"/>
            <a:ext cx="4663440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h1 {</a:t>
            </a:r>
          </a:p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  color: blue;</a:t>
            </a:r>
          </a:p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p {</a:t>
            </a:r>
          </a:p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  font-size: 18px;</a:t>
            </a:r>
          </a:p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474720"/>
            <a:ext cx="4754880" cy="210312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3474720"/>
            <a:ext cx="82296" cy="210312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169663"/>
            <a:ext cx="4343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Headings become blue, and paragraph text becomes 18 pixels 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3 •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JavaScript: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A programming language for interactive web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rPr b="1">
                <a:solidFill>
                  <a:srgbClr val="2B69B0"/>
                </a:solidFill>
              </a:rPr>
              <a:t>Purpose — </a:t>
            </a:r>
            <a:r>
              <a:rPr>
                <a:solidFill>
                  <a:srgbClr val="2D3744"/>
                </a:solidFill>
              </a:rPr>
              <a:t>Responds to user actions and changes page content.</a:t>
            </a:r>
          </a:p>
          <a:p>
            <a:pPr>
              <a:spcAft>
                <a:spcPts val="1400"/>
              </a:spcAft>
              <a:defRPr sz="1700"/>
            </a:pPr>
            <a:r>
              <a:rPr b="1">
                <a:solidFill>
                  <a:srgbClr val="2B69B0"/>
                </a:solidFill>
              </a:rPr>
              <a:t>Event — </a:t>
            </a:r>
            <a:r>
              <a:rPr>
                <a:solidFill>
                  <a:srgbClr val="2D3744"/>
                </a:solidFill>
              </a:rPr>
              <a:t>Something that happens, such as a button click.</a:t>
            </a:r>
          </a:p>
          <a:p>
            <a:pPr>
              <a:spcAft>
                <a:spcPts val="1400"/>
              </a:spcAft>
              <a:defRPr sz="1700"/>
            </a:pPr>
            <a:r>
              <a:rPr b="1">
                <a:solidFill>
                  <a:srgbClr val="2B69B0"/>
                </a:solidFill>
              </a:rPr>
              <a:t>Function — </a:t>
            </a:r>
            <a:r>
              <a:rPr>
                <a:solidFill>
                  <a:srgbClr val="2D3744"/>
                </a:solidFill>
              </a:rPr>
              <a:t>A reusable group of instructions that performs a task.</a:t>
            </a:r>
          </a:p>
          <a:p>
            <a:pPr>
              <a:spcAft>
                <a:spcPts val="1400"/>
              </a:spcAft>
              <a:defRPr sz="1700"/>
            </a:pPr>
            <a:r>
              <a:rPr b="1">
                <a:solidFill>
                  <a:srgbClr val="2B69B0"/>
                </a:solidFill>
              </a:rPr>
              <a:t>DOM — </a:t>
            </a:r>
            <a:r>
              <a:rPr>
                <a:solidFill>
                  <a:srgbClr val="2D3744"/>
                </a:solidFill>
              </a:rPr>
              <a:t>The browser's representation of the page that JavaScript can read and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86200"/>
            <a:ext cx="6583680" cy="1645920"/>
          </a:xfrm>
          <a:prstGeom prst="round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50791"/>
            <a:ext cx="6217920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function changeMessage() {</a:t>
            </a:r>
          </a:p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  document.getElementById("message")</a:t>
            </a:r>
          </a:p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    .textContent = "You clicked!";</a:t>
            </a:r>
          </a:p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886200"/>
            <a:ext cx="3291840" cy="164592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3886200"/>
            <a:ext cx="82296" cy="1645920"/>
          </a:xfrm>
          <a:prstGeom prst="rect">
            <a:avLst/>
          </a:prstGeom>
          <a:solidFill>
            <a:srgbClr val="E7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06908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581144"/>
            <a:ext cx="2880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Clicking a button changes the message shown on the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4. Back-End Web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How applications request information and receive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29000" cy="228600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82296" cy="228600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23744"/>
            <a:ext cx="30175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A defined way for software programs to communicate.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228600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82296" cy="22860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HTTP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23744"/>
            <a:ext cx="30175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Messages a client sends to a server to ask for information or an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429000" cy="228600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82296" cy="2286000"/>
          </a:xfrm>
          <a:prstGeom prst="rect">
            <a:avLst/>
          </a:prstGeom>
          <a:solidFill>
            <a:srgbClr val="E7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HTTP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23744"/>
            <a:ext cx="30175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Messages a server sends back with the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rPr b="1">
                <a:solidFill>
                  <a:srgbClr val="2B69B0"/>
                </a:solidFill>
              </a:rPr>
              <a:t>Example — </a:t>
            </a:r>
            <a:r>
              <a:rPr>
                <a:solidFill>
                  <a:srgbClr val="2D3744"/>
                </a:solidFill>
              </a:rPr>
              <a:t>A weather app requests today's temperature from a weather service and receives the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4 •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Application Programming 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rPr b="1">
                <a:solidFill>
                  <a:srgbClr val="2B69B0"/>
                </a:solidFill>
              </a:rPr>
              <a:t>Definition — </a:t>
            </a:r>
            <a:r>
              <a:rPr>
                <a:solidFill>
                  <a:srgbClr val="2D3744"/>
                </a:solidFill>
              </a:rPr>
              <a:t>A defined way for one software program to communicate with another.</a:t>
            </a:r>
          </a:p>
          <a:p>
            <a:pPr>
              <a:spcAft>
                <a:spcPts val="1400"/>
              </a:spcAft>
              <a:defRPr sz="1700"/>
            </a:pPr>
            <a:r>
              <a:rPr b="1">
                <a:solidFill>
                  <a:srgbClr val="2B69B0"/>
                </a:solidFill>
              </a:rPr>
              <a:t>Analogy — </a:t>
            </a:r>
            <a:r>
              <a:rPr>
                <a:solidFill>
                  <a:srgbClr val="2D3744"/>
                </a:solidFill>
              </a:rPr>
              <a:t>A waiter takes your order to the kitchen and brings back the result.</a:t>
            </a:r>
          </a:p>
          <a:p>
            <a:pPr>
              <a:spcAft>
                <a:spcPts val="1400"/>
              </a:spcAft>
              <a:defRPr sz="1700"/>
            </a:pPr>
            <a:r>
              <a:rPr b="1">
                <a:solidFill>
                  <a:srgbClr val="2B69B0"/>
                </a:solidFill>
              </a:rPr>
              <a:t>Client — </a:t>
            </a:r>
            <a:r>
              <a:rPr>
                <a:solidFill>
                  <a:srgbClr val="2D3744"/>
                </a:solidFill>
              </a:rPr>
              <a:t>The program asking for information or a service.</a:t>
            </a:r>
          </a:p>
          <a:p>
            <a:pPr>
              <a:spcAft>
                <a:spcPts val="1400"/>
              </a:spcAft>
              <a:defRPr sz="1700"/>
            </a:pPr>
            <a:r>
              <a:rPr b="1">
                <a:solidFill>
                  <a:srgbClr val="2B69B0"/>
                </a:solidFill>
              </a:rPr>
              <a:t>Server — </a:t>
            </a:r>
            <a:r>
              <a:rPr>
                <a:solidFill>
                  <a:srgbClr val="2D3744"/>
                </a:solidFill>
              </a:rPr>
              <a:t>The computer or software that receives requests and provides information or services.</a:t>
            </a:r>
          </a:p>
          <a:p>
            <a:pPr>
              <a:spcAft>
                <a:spcPts val="1400"/>
              </a:spcAft>
              <a:defRPr sz="1700"/>
            </a:pPr>
            <a:r>
              <a:rPr b="1">
                <a:solidFill>
                  <a:srgbClr val="2B69B0"/>
                </a:solidFill>
              </a:rPr>
              <a:t>Endpoint — </a:t>
            </a:r>
            <a:r>
              <a:rPr>
                <a:solidFill>
                  <a:srgbClr val="2D3744"/>
                </a:solidFill>
              </a:rPr>
              <a:t>A specific address where an API accepts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6583680" cy="685800"/>
          </a:xfrm>
          <a:prstGeom prst="round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48072"/>
            <a:ext cx="62179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https://api.example.com/weather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00600"/>
            <a:ext cx="338328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4800600"/>
            <a:ext cx="82296" cy="105156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983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495544"/>
            <a:ext cx="29718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A weather app asks an API for the current temperature.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4 •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HTTP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A client’s message to a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HTTP — </a:t>
            </a:r>
            <a:r>
              <a:rPr>
                <a:solidFill>
                  <a:srgbClr val="2D3744"/>
                </a:solidFill>
              </a:rPr>
              <a:t>Hypertext Transfer Protocol: rules for exchanging information on the web.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Request — </a:t>
            </a:r>
            <a:r>
              <a:rPr>
                <a:solidFill>
                  <a:srgbClr val="2D3744"/>
                </a:solidFill>
              </a:rPr>
              <a:t>A message asking for information or asking the server to perform an action.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GET — </a:t>
            </a:r>
            <a:r>
              <a:rPr>
                <a:solidFill>
                  <a:srgbClr val="2D3744"/>
                </a:solidFill>
              </a:rPr>
              <a:t>Commonly used to retrieve information, such as a product list.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POST — </a:t>
            </a:r>
            <a:r>
              <a:rPr>
                <a:solidFill>
                  <a:srgbClr val="2D3744"/>
                </a:solidFill>
              </a:rPr>
              <a:t>Commonly used to submit information, such as a registration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00600"/>
            <a:ext cx="498348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800600"/>
            <a:ext cx="82296" cy="105156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83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Request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495544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Method, URL (address), headers, and sometimes a body.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00600"/>
            <a:ext cx="498348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800600"/>
            <a:ext cx="82296" cy="105156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983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495544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A request does not guarantee success; the server must process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4 •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HTTP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The server’s reply to a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Response — </a:t>
            </a:r>
            <a:r>
              <a:rPr>
                <a:solidFill>
                  <a:srgbClr val="2D3744"/>
                </a:solidFill>
              </a:rPr>
              <a:t>A message returned after the server processes a request.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Status code — </a:t>
            </a:r>
            <a:r>
              <a:rPr>
                <a:solidFill>
                  <a:srgbClr val="2D3744"/>
                </a:solidFill>
              </a:rPr>
              <a:t>A number describing the result.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Headers — </a:t>
            </a:r>
            <a:r>
              <a:rPr>
                <a:solidFill>
                  <a:srgbClr val="2D3744"/>
                </a:solidFill>
              </a:rPr>
              <a:t>Extra information about the response.</a:t>
            </a:r>
          </a:p>
          <a:p>
            <a:pPr>
              <a:spcAft>
                <a:spcPts val="1400"/>
              </a:spcAft>
              <a:defRPr sz="1800"/>
            </a:pPr>
            <a:r>
              <a:rPr b="1">
                <a:solidFill>
                  <a:srgbClr val="2B69B0"/>
                </a:solidFill>
              </a:rPr>
              <a:t>Body — </a:t>
            </a:r>
            <a:r>
              <a:rPr>
                <a:solidFill>
                  <a:srgbClr val="2D3744"/>
                </a:solidFill>
              </a:rPr>
              <a:t>The returned content, such as HTML or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60520"/>
            <a:ext cx="34290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160520"/>
            <a:ext cx="82296" cy="13258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200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55464"/>
            <a:ext cx="30175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The request succeeded.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160520"/>
            <a:ext cx="34290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4160520"/>
            <a:ext cx="82296" cy="1325880"/>
          </a:xfrm>
          <a:prstGeom prst="rect">
            <a:avLst/>
          </a:prstGeom>
          <a:solidFill>
            <a:srgbClr val="E7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3434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404 Not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855464"/>
            <a:ext cx="30175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The requested resource could not be found.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160520"/>
            <a:ext cx="34290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4160520"/>
            <a:ext cx="82296" cy="132588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3434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500 Server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55464"/>
            <a:ext cx="30175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The server encountered an unexpected problem.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9191"/>
                </a:solidFill>
              </a:defRPr>
            </a:pPr>
            <a:r>
              <a:t>SECTION 4 •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Putting 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A typical browser-to-server exchange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645920"/>
            <a:ext cx="10149840" cy="658368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645920"/>
            <a:ext cx="82296" cy="658368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738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1.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40864"/>
            <a:ext cx="9738360" cy="-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The browser needs a webpage.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487168"/>
            <a:ext cx="10149840" cy="658368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82296" cy="658368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670048"/>
            <a:ext cx="9738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2. HTTP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82112"/>
            <a:ext cx="9738360" cy="-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The browser asks the server for the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328416"/>
            <a:ext cx="10149840" cy="658368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328416"/>
            <a:ext cx="82296" cy="658368"/>
          </a:xfrm>
          <a:prstGeom prst="rect">
            <a:avLst/>
          </a:prstGeom>
          <a:solidFill>
            <a:srgbClr val="E7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511296"/>
            <a:ext cx="9738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3.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23360"/>
            <a:ext cx="9738360" cy="-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The server processes the request.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169664"/>
            <a:ext cx="10149840" cy="658368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169664"/>
            <a:ext cx="82296" cy="658368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352544"/>
            <a:ext cx="9738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4. HTTP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864608"/>
            <a:ext cx="9738360" cy="-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The server returns a status code and content.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010912"/>
            <a:ext cx="10149840" cy="658368"/>
          </a:xfrm>
          <a:prstGeom prst="roundRect">
            <a:avLst/>
          </a:prstGeom>
          <a:solidFill>
            <a:srgbClr val="EFF5FB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5010912"/>
            <a:ext cx="82296" cy="658368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193792"/>
            <a:ext cx="9738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B48"/>
                </a:solidFill>
              </a:defRPr>
            </a:pPr>
            <a:r>
              <a:t>5. 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705856"/>
            <a:ext cx="9738360" cy="-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4"/>
                </a:solidFill>
              </a:defRPr>
            </a:pPr>
            <a:r>
              <a:t>The browser displays the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B48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A"/>
                </a:solidFill>
              </a:defRPr>
            </a:pPr>
            <a:r>
              <a:t>The essential ideas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b="1">
                <a:solidFill>
                  <a:srgbClr val="2B69B0"/>
                </a:solidFill>
              </a:rPr>
              <a:t>Network security — </a:t>
            </a:r>
            <a:r>
              <a:rPr>
                <a:solidFill>
                  <a:srgbClr val="2D3744"/>
                </a:solidFill>
              </a:rPr>
              <a:t>Firewalls filter connections, VPNs encrypt traffic, and IDS tools alert on suspicious activity.</a:t>
            </a:r>
          </a:p>
          <a:p>
            <a:pPr>
              <a:spcAft>
                <a:spcPts val="1400"/>
              </a:spcAft>
              <a:defRPr sz="2000"/>
            </a:pPr>
            <a:r>
              <a:rPr b="1">
                <a:solidFill>
                  <a:srgbClr val="2B69B0"/>
                </a:solidFill>
              </a:rPr>
              <a:t>Application security — </a:t>
            </a:r>
            <a:r>
              <a:rPr>
                <a:solidFill>
                  <a:srgbClr val="2D3744"/>
                </a:solidFill>
              </a:rPr>
              <a:t>SAST checks source code; DAST tests a running application.</a:t>
            </a:r>
          </a:p>
          <a:p>
            <a:pPr>
              <a:spcAft>
                <a:spcPts val="1400"/>
              </a:spcAft>
              <a:defRPr sz="2000"/>
            </a:pPr>
            <a:r>
              <a:rPr b="1">
                <a:solidFill>
                  <a:srgbClr val="2B69B0"/>
                </a:solidFill>
              </a:rPr>
              <a:t>Front-end — </a:t>
            </a:r>
            <a:r>
              <a:rPr>
                <a:solidFill>
                  <a:srgbClr val="2D3744"/>
                </a:solidFill>
              </a:rPr>
              <a:t>HTML structures content, CSS styles it, and JavaScript adds behavior.</a:t>
            </a:r>
          </a:p>
          <a:p>
            <a:pPr>
              <a:spcAft>
                <a:spcPts val="1400"/>
              </a:spcAft>
              <a:defRPr sz="2000"/>
            </a:pPr>
            <a:r>
              <a:rPr b="1">
                <a:solidFill>
                  <a:srgbClr val="2B69B0"/>
                </a:solidFill>
              </a:rPr>
              <a:t>Back-end — </a:t>
            </a:r>
            <a:r>
              <a:rPr>
                <a:solidFill>
                  <a:srgbClr val="2D3744"/>
                </a:solidFill>
              </a:rPr>
              <a:t>APIs define software communication; HTTP requests ask, and HTTP responses reply.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A"/>
                </a:solidFill>
              </a:defRPr>
            </a:pPr>
            <a:r>
              <a:t>BEGINNER COMPUTER SCIENCE  •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